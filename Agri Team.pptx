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Comfortaa" panose="020B0604020202020204" charset="0"/>
      <p:regular r:id="rId11"/>
      <p:bold r:id="rId12"/>
    </p:embeddedFont>
    <p:embeddedFont>
      <p:font typeface="Comic Sans MS" panose="030F0702030302020204" pitchFamily="66"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1018"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fb8a7e853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fb8a7e853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fb8a7e8538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fb8a7e8538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fb8a7e8538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fb8a7e853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fb8a7e8538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fb8a7e8538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fb8a7e8538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fb8a7e853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fb8a7e8538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fb8a7e853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b8a7e8538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fb8a7e8538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441650" y="153750"/>
            <a:ext cx="8520600" cy="18009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latin typeface="Comic Sans MS"/>
                <a:ea typeface="Comic Sans MS"/>
                <a:cs typeface="Comic Sans MS"/>
                <a:sym typeface="Comic Sans MS"/>
              </a:rPr>
              <a:t>The AgriTwin-Smart-Rover</a:t>
            </a:r>
            <a:endParaRPr>
              <a:latin typeface="Comic Sans MS"/>
              <a:ea typeface="Comic Sans MS"/>
              <a:cs typeface="Comic Sans MS"/>
              <a:sym typeface="Comic Sans MS"/>
            </a:endParaRPr>
          </a:p>
        </p:txBody>
      </p:sp>
      <p:sp>
        <p:nvSpPr>
          <p:cNvPr id="55" name="Google Shape;55;p13"/>
          <p:cNvSpPr txBox="1">
            <a:spLocks noGrp="1"/>
          </p:cNvSpPr>
          <p:nvPr>
            <p:ph type="subTitle" idx="1"/>
          </p:nvPr>
        </p:nvSpPr>
        <p:spPr>
          <a:xfrm>
            <a:off x="365825" y="2206075"/>
            <a:ext cx="4985700" cy="27339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 sz="4211" b="1" u="sng">
                <a:latin typeface="Comfortaa"/>
                <a:ea typeface="Comfortaa"/>
                <a:cs typeface="Comfortaa"/>
                <a:sym typeface="Comfortaa"/>
              </a:rPr>
              <a:t>INTRODUCTION:</a:t>
            </a:r>
            <a:r>
              <a:rPr lang="en" b="1" u="sng">
                <a:latin typeface="Comfortaa"/>
                <a:ea typeface="Comfortaa"/>
                <a:cs typeface="Comfortaa"/>
                <a:sym typeface="Comfortaa"/>
              </a:rPr>
              <a:t> </a:t>
            </a:r>
            <a:endParaRPr b="1" u="sng">
              <a:latin typeface="Comfortaa"/>
              <a:ea typeface="Comfortaa"/>
              <a:cs typeface="Comfortaa"/>
              <a:sym typeface="Comfortaa"/>
            </a:endParaRPr>
          </a:p>
          <a:p>
            <a:pPr marL="0" lvl="0" indent="0" algn="ctr" rtl="0">
              <a:spcBef>
                <a:spcPts val="0"/>
              </a:spcBef>
              <a:spcAft>
                <a:spcPts val="0"/>
              </a:spcAft>
              <a:buNone/>
            </a:pPr>
            <a:endParaRPr/>
          </a:p>
          <a:p>
            <a:pPr marL="0" lvl="0" indent="0" algn="ctr" rtl="0">
              <a:spcBef>
                <a:spcPts val="0"/>
              </a:spcBef>
              <a:spcAft>
                <a:spcPts val="0"/>
              </a:spcAft>
              <a:buNone/>
            </a:pPr>
            <a:r>
              <a:rPr lang="en"/>
              <a:t>We’re pleased to present our project, the AgriTwin Rover. It is a smart agricultural system that uses robotics, sensors and technology to monitor crop conditions and assist farmers.</a:t>
            </a:r>
            <a:endParaRPr/>
          </a:p>
          <a:p>
            <a:pPr marL="0" lvl="0" indent="0" algn="ctr" rtl="0">
              <a:spcBef>
                <a:spcPts val="0"/>
              </a:spcBef>
              <a:spcAft>
                <a:spcPts val="0"/>
              </a:spcAft>
              <a:buNone/>
            </a:pPr>
            <a:r>
              <a:rPr lang="en"/>
              <a:t>But before we introduce our solution, let us first look at the problem we are trying to solve</a:t>
            </a:r>
            <a:endParaRPr/>
          </a:p>
        </p:txBody>
      </p:sp>
      <p:pic>
        <p:nvPicPr>
          <p:cNvPr id="56" name="Google Shape;56;p13"/>
          <p:cNvPicPr preferRelativeResize="0"/>
          <p:nvPr/>
        </p:nvPicPr>
        <p:blipFill>
          <a:blip r:embed="rId3">
            <a:alphaModFix/>
          </a:blip>
          <a:stretch>
            <a:fillRect/>
          </a:stretch>
        </p:blipFill>
        <p:spPr>
          <a:xfrm>
            <a:off x="5351525" y="2206075"/>
            <a:ext cx="3610726" cy="2733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62" name="Google Shape;62;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63" name="Google Shape;63;p1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265500" y="1089450"/>
            <a:ext cx="4045200" cy="14823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a:t>OUR PROBLEM STATEMENT</a:t>
            </a:r>
            <a:endParaRPr/>
          </a:p>
        </p:txBody>
      </p:sp>
      <p:sp>
        <p:nvSpPr>
          <p:cNvPr id="69" name="Google Shape;69;p15"/>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p>
            <a:pPr marL="0" lvl="0" indent="0" algn="l" rtl="0">
              <a:spcBef>
                <a:spcPts val="0"/>
              </a:spcBef>
              <a:spcAft>
                <a:spcPts val="1200"/>
              </a:spcAft>
              <a:buNone/>
            </a:pPr>
            <a:endParaRPr/>
          </a:p>
        </p:txBody>
      </p:sp>
      <p:sp>
        <p:nvSpPr>
          <p:cNvPr id="70" name="Google Shape;70;p15"/>
          <p:cNvSpPr txBox="1">
            <a:spLocks noGrp="1"/>
          </p:cNvSpPr>
          <p:nvPr>
            <p:ph type="subTitle" idx="1"/>
          </p:nvPr>
        </p:nvSpPr>
        <p:spPr>
          <a:xfrm>
            <a:off x="265500" y="2770600"/>
            <a:ext cx="4045200" cy="12351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1200"/>
              </a:spcAft>
              <a:buClr>
                <a:schemeClr val="dk1"/>
              </a:buClr>
              <a:buSzPts val="688"/>
              <a:buFont typeface="Arial"/>
              <a:buNone/>
            </a:pPr>
            <a:r>
              <a:rPr lang="en" sz="1850"/>
              <a:t>In the lowveld region, macadamia and citrus crops are vital economic drivers, but climate volatility and sudden dry spells threaten crop’s wealth. Traditionally fixed sensors are too costly to deploy across every area leaving dangerous blind spot</a:t>
            </a:r>
            <a:r>
              <a:rPr lang="en" sz="1788"/>
              <a:t>.</a:t>
            </a:r>
            <a:endParaRPr sz="1988"/>
          </a:p>
        </p:txBody>
      </p:sp>
      <p:pic>
        <p:nvPicPr>
          <p:cNvPr id="71" name="Google Shape;71;p15"/>
          <p:cNvPicPr preferRelativeResize="0"/>
          <p:nvPr/>
        </p:nvPicPr>
        <p:blipFill>
          <a:blip r:embed="rId3">
            <a:alphaModFix/>
          </a:blip>
          <a:stretch>
            <a:fillRect/>
          </a:stretch>
        </p:blipFill>
        <p:spPr>
          <a:xfrm>
            <a:off x="4572000" y="724075"/>
            <a:ext cx="4496874" cy="44238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311700" y="402825"/>
            <a:ext cx="8520600" cy="141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120"/>
              <a:t>OUR CHALLENGE </a:t>
            </a:r>
            <a:endParaRPr sz="3120"/>
          </a:p>
        </p:txBody>
      </p:sp>
      <p:sp>
        <p:nvSpPr>
          <p:cNvPr id="77" name="Google Shape;77;p16"/>
          <p:cNvSpPr txBox="1">
            <a:spLocks noGrp="1"/>
          </p:cNvSpPr>
          <p:nvPr>
            <p:ph type="body" idx="1"/>
          </p:nvPr>
        </p:nvSpPr>
        <p:spPr>
          <a:xfrm>
            <a:off x="311700" y="1821225"/>
            <a:ext cx="8520600" cy="2620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sz="2000"/>
          </a:p>
          <a:p>
            <a:pPr marL="0" lvl="0" indent="0" algn="l" rtl="0">
              <a:spcBef>
                <a:spcPts val="1200"/>
              </a:spcBef>
              <a:spcAft>
                <a:spcPts val="0"/>
              </a:spcAft>
              <a:buNone/>
            </a:pPr>
            <a:r>
              <a:rPr lang="en" sz="2000"/>
              <a:t>Our challenge was to create a smart rover that can move through farm areas, monitor soil conditions, detect areas under stress, sense temperature around the field and respond automatically</a:t>
            </a:r>
            <a:endParaRPr sz="2000"/>
          </a:p>
          <a:p>
            <a:pPr marL="0" lvl="0" indent="0" algn="l" rtl="0">
              <a:spcBef>
                <a:spcPts val="1200"/>
              </a:spcBef>
              <a:spcAft>
                <a:spcPts val="1200"/>
              </a:spcAft>
              <a:buNone/>
            </a:pPr>
            <a:endParaRPr sz="1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311700" y="585775"/>
            <a:ext cx="8520600" cy="791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000"/>
              <a:t>OUR OUTCOME SOLUTION</a:t>
            </a:r>
            <a:endParaRPr sz="3000"/>
          </a:p>
        </p:txBody>
      </p:sp>
      <p:sp>
        <p:nvSpPr>
          <p:cNvPr id="83" name="Google Shape;83;p17"/>
          <p:cNvSpPr txBox="1">
            <a:spLocks noGrp="1"/>
          </p:cNvSpPr>
          <p:nvPr>
            <p:ph type="body" idx="1"/>
          </p:nvPr>
        </p:nvSpPr>
        <p:spPr>
          <a:xfrm>
            <a:off x="398325" y="1953800"/>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t>To solve this problem, our team built the AgriTwin Rover, a mobile smart edge node integrated with a 3D digital twin. Instead of relying on stationery equipments, our 4-wheel rover actively patrols sub-plots, powered by an ARDUINO UNO.</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55025" y="293425"/>
            <a:ext cx="8520600" cy="791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WHAT DOES IT DO</a:t>
            </a:r>
            <a:endParaRPr/>
          </a:p>
        </p:txBody>
      </p:sp>
      <p:sp>
        <p:nvSpPr>
          <p:cNvPr id="89" name="Google Shape;89;p18"/>
          <p:cNvSpPr txBox="1">
            <a:spLocks noGrp="1"/>
          </p:cNvSpPr>
          <p:nvPr>
            <p:ph type="body" idx="1"/>
          </p:nvPr>
        </p:nvSpPr>
        <p:spPr>
          <a:xfrm>
            <a:off x="355025" y="1650575"/>
            <a:ext cx="8520600" cy="34164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SzPts val="935"/>
              <a:buNone/>
            </a:pPr>
            <a:r>
              <a:rPr lang="en" sz="1730"/>
              <a:t>It constantly measures soil moisture, ambient temperature and checks for physical obstacles using ultrasonic sensor.</a:t>
            </a:r>
            <a:endParaRPr sz="1730"/>
          </a:p>
          <a:p>
            <a:pPr marL="0" lvl="0" indent="0" algn="l" rtl="0">
              <a:lnSpc>
                <a:spcPct val="105000"/>
              </a:lnSpc>
              <a:spcBef>
                <a:spcPts val="1200"/>
              </a:spcBef>
              <a:spcAft>
                <a:spcPts val="0"/>
              </a:spcAft>
              <a:buSzPts val="935"/>
              <a:buNone/>
            </a:pPr>
            <a:endParaRPr sz="1730"/>
          </a:p>
          <a:p>
            <a:pPr marL="0" lvl="0" indent="0" algn="l" rtl="0">
              <a:lnSpc>
                <a:spcPct val="105000"/>
              </a:lnSpc>
              <a:spcBef>
                <a:spcPts val="1200"/>
              </a:spcBef>
              <a:spcAft>
                <a:spcPts val="0"/>
              </a:spcAft>
              <a:buSzPts val="935"/>
              <a:buNone/>
            </a:pPr>
            <a:r>
              <a:rPr lang="en" sz="1730"/>
              <a:t>HERE’S HOW THE CLOSED LOOP SYSTEM WORKS:</a:t>
            </a:r>
            <a:endParaRPr sz="1730"/>
          </a:p>
          <a:p>
            <a:pPr marL="457200" lvl="0" indent="-338455" algn="l" rtl="0">
              <a:lnSpc>
                <a:spcPct val="105000"/>
              </a:lnSpc>
              <a:spcBef>
                <a:spcPts val="1200"/>
              </a:spcBef>
              <a:spcAft>
                <a:spcPts val="0"/>
              </a:spcAft>
              <a:buSzPts val="1730"/>
              <a:buChar char="❏"/>
            </a:pPr>
            <a:r>
              <a:rPr lang="en" sz="1730"/>
              <a:t>When the soil moisture drops below 30%,the soil moisture immediately detects dry soil</a:t>
            </a:r>
            <a:endParaRPr sz="1730"/>
          </a:p>
          <a:p>
            <a:pPr marL="457200" lvl="0" indent="-338455" algn="l" rtl="0">
              <a:lnSpc>
                <a:spcPct val="105000"/>
              </a:lnSpc>
              <a:spcBef>
                <a:spcPts val="0"/>
              </a:spcBef>
              <a:spcAft>
                <a:spcPts val="0"/>
              </a:spcAft>
              <a:buSzPts val="1730"/>
              <a:buChar char="❏"/>
            </a:pPr>
            <a:r>
              <a:rPr lang="en" sz="1730"/>
              <a:t>The RED led flashes on, drive motor stops and the onboard water pump activates the deliver precise spot-irrigation right at the root zone.</a:t>
            </a:r>
            <a:endParaRPr sz="1730"/>
          </a:p>
          <a:p>
            <a:pPr marL="457200" lvl="0" indent="-338455" algn="l" rtl="0">
              <a:lnSpc>
                <a:spcPct val="105000"/>
              </a:lnSpc>
              <a:spcBef>
                <a:spcPts val="0"/>
              </a:spcBef>
              <a:spcAft>
                <a:spcPts val="0"/>
              </a:spcAft>
              <a:buSzPts val="1730"/>
              <a:buChar char="❏"/>
            </a:pPr>
            <a:r>
              <a:rPr lang="en" sz="1730"/>
              <a:t>Once moisture levels recover, the GREEN led turns ON, the pump shuts off and the resume it patrol</a:t>
            </a:r>
            <a:endParaRPr sz="1730"/>
          </a:p>
          <a:p>
            <a:pPr marL="0" lvl="0" indent="0" algn="l" rtl="0">
              <a:lnSpc>
                <a:spcPct val="105000"/>
              </a:lnSpc>
              <a:spcBef>
                <a:spcPts val="1200"/>
              </a:spcBef>
              <a:spcAft>
                <a:spcPts val="1200"/>
              </a:spcAft>
              <a:buSzPts val="935"/>
              <a:buNone/>
            </a:pPr>
            <a:endParaRPr sz="173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OUR SOLUTION STANDS OUT?</a:t>
            </a:r>
            <a:endParaRPr/>
          </a:p>
        </p:txBody>
      </p:sp>
      <p:sp>
        <p:nvSpPr>
          <p:cNvPr id="95" name="Google Shape;95;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It brings the technology directly to the crops. Instead of waiting for problems to be noticed, the AgriTwin Rover moves around the field, collects information, identifies areas that need attention, and responds automatically.</a:t>
            </a:r>
            <a:endParaRPr/>
          </a:p>
          <a:p>
            <a:pPr marL="0" lvl="0" indent="0" algn="l" rtl="0">
              <a:spcBef>
                <a:spcPts val="1200"/>
              </a:spcBef>
              <a:spcAft>
                <a:spcPts val="1200"/>
              </a:spcAft>
              <a:buNone/>
            </a:pPr>
            <a:r>
              <a:rPr lang="en"/>
              <a:t>AgriTwin Rover saves water, cuts hardware costs and defends crops against climate risks.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0"/>
          <p:cNvSpPr txBox="1">
            <a:spLocks noGrp="1"/>
          </p:cNvSpPr>
          <p:nvPr>
            <p:ph type="title"/>
          </p:nvPr>
        </p:nvSpPr>
        <p:spPr>
          <a:xfrm>
            <a:off x="311700" y="445025"/>
            <a:ext cx="8520600" cy="910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IS IT COMMERCIALLY PURCHASABLE</a:t>
            </a:r>
            <a:endParaRPr sz="2911"/>
          </a:p>
        </p:txBody>
      </p:sp>
      <p:sp>
        <p:nvSpPr>
          <p:cNvPr id="101" name="Google Shape;101;p20"/>
          <p:cNvSpPr txBox="1">
            <a:spLocks noGrp="1"/>
          </p:cNvSpPr>
          <p:nvPr>
            <p:ph type="body" idx="1"/>
          </p:nvPr>
        </p:nvSpPr>
        <p:spPr>
          <a:xfrm>
            <a:off x="311700" y="167222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t>Commercially, AgriTwin is highly profitable and scalable. Each Rover costs R1,100 to build and we retail it at R3,500, giving us a 70% margin</a:t>
            </a:r>
            <a:endParaRPr sz="20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361</Words>
  <Application>Microsoft Office PowerPoint</Application>
  <PresentationFormat>On-screen Show (16:9)</PresentationFormat>
  <Paragraphs>24</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Comfortaa</vt:lpstr>
      <vt:lpstr>Arial</vt:lpstr>
      <vt:lpstr>Comic Sans MS</vt:lpstr>
      <vt:lpstr>Simple Light</vt:lpstr>
      <vt:lpstr>The AgriTwin-Smart-Rover</vt:lpstr>
      <vt:lpstr>PowerPoint Presentation</vt:lpstr>
      <vt:lpstr>OUR PROBLEM STATEMENT</vt:lpstr>
      <vt:lpstr>OUR CHALLENGE </vt:lpstr>
      <vt:lpstr>OUR OUTCOME SOLUTION</vt:lpstr>
      <vt:lpstr>WHAT DOES IT DO</vt:lpstr>
      <vt:lpstr>WHY OUR SOLUTION STANDS OUT?</vt:lpstr>
      <vt:lpstr>IS IT COMMERCIALLY PURCHASABLE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SK MASHABANE</dc:creator>
  <cp:lastModifiedBy>Surprise Khayelihle Mashabane</cp:lastModifiedBy>
  <cp:revision>1</cp:revision>
  <dcterms:modified xsi:type="dcterms:W3CDTF">2026-09-17T19:04:24Z</dcterms:modified>
</cp:coreProperties>
</file>